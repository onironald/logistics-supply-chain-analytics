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1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4B1A7C"/>
                </a:solidFill>
                <a:latin typeface="Arial"/>
              </a:defRPr>
            </a:pPr>
            <a:r>
              <a:rPr lang="en-US" sz="1600" b="0" i="0" u="none" strike="noStrike" dirty="0">
                <a:solidFill>
                  <a:srgbClr val="4B1A7C"/>
                </a:solidFill>
                <a:latin typeface="Arial"/>
              </a:rPr>
              <a:t>Average Logistics Cost by Transportation Mode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Logistics Cost</c:v>
                </c:pt>
              </c:strCache>
            </c:strRef>
          </c:tx>
          <c:spPr>
            <a:solidFill>
              <a:srgbClr val="4B1A7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CE9-4D1C-A9D5-4F97CE6D2AE6}"/>
              </c:ext>
            </c:extLst>
          </c:dPt>
          <c:dPt>
            <c:idx val="1"/>
            <c:invertIfNegative val="0"/>
            <c:bubble3D val="0"/>
            <c:spPr>
              <a:solidFill>
                <a:srgbClr val="6B3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CE9-4D1C-A9D5-4F97CE6D2AE6}"/>
              </c:ext>
            </c:extLst>
          </c:dPt>
          <c:dPt>
            <c:idx val="2"/>
            <c:invertIfNegative val="0"/>
            <c:bubble3D val="0"/>
            <c:spPr>
              <a:solidFill>
                <a:srgbClr val="8B6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CE9-4D1C-A9D5-4F97CE6D2AE6}"/>
              </c:ext>
            </c:extLst>
          </c:dPt>
          <c:dPt>
            <c:idx val="3"/>
            <c:invertIfNegative val="0"/>
            <c:bubble3D val="0"/>
            <c:spPr>
              <a:solidFill>
                <a:srgbClr val="B8A0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CE9-4D1C-A9D5-4F97CE6D2AE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Air</c:v>
                </c:pt>
                <c:pt idx="1">
                  <c:v>Road</c:v>
                </c:pt>
                <c:pt idx="2">
                  <c:v>Rail</c:v>
                </c:pt>
                <c:pt idx="3">
                  <c:v>Sea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561.71</c:v>
                </c:pt>
                <c:pt idx="1">
                  <c:v>553.39</c:v>
                </c:pt>
                <c:pt idx="2">
                  <c:v>541.75</c:v>
                </c:pt>
                <c:pt idx="3">
                  <c:v>417.82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CE9-4D1C-A9D5-4F97CE6D2AE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0C8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B1A7C"/>
                </a:solidFill>
                <a:latin typeface="Arial"/>
              </a:defRPr>
            </a:pPr>
            <a:r>
              <a:rPr lang="en-US" sz="1600" b="0" i="0" u="none" strike="noStrike" dirty="0">
                <a:solidFill>
                  <a:srgbClr val="4B1A7C"/>
                </a:solidFill>
                <a:latin typeface="Arial"/>
              </a:rPr>
              <a:t>Average Shipping Time by Transportation Mode (Days)</a:t>
            </a:r>
          </a:p>
        </c:rich>
      </c:tx>
      <c:layout>
        <c:manualLayout>
          <c:xMode val="edge"/>
          <c:yMode val="edge"/>
          <c:x val="0.14148697468850877"/>
          <c:y val="2.7006172839506171E-2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Shipping Time</c:v>
                </c:pt>
              </c:strCache>
            </c:strRef>
          </c:tx>
          <c:spPr>
            <a:solidFill>
              <a:srgbClr val="4B1A7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2F9-450B-9DB6-76A01B3FE49F}"/>
              </c:ext>
            </c:extLst>
          </c:dPt>
          <c:dPt>
            <c:idx val="1"/>
            <c:invertIfNegative val="0"/>
            <c:bubble3D val="0"/>
            <c:spPr>
              <a:solidFill>
                <a:srgbClr val="6B3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2F9-450B-9DB6-76A01B3FE49F}"/>
              </c:ext>
            </c:extLst>
          </c:dPt>
          <c:dPt>
            <c:idx val="2"/>
            <c:invertIfNegative val="0"/>
            <c:bubble3D val="0"/>
            <c:spPr>
              <a:solidFill>
                <a:srgbClr val="8B6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2F9-450B-9DB6-76A01B3FE49F}"/>
              </c:ext>
            </c:extLst>
          </c:dPt>
          <c:dPt>
            <c:idx val="3"/>
            <c:invertIfNegative val="0"/>
            <c:bubble3D val="0"/>
            <c:spPr>
              <a:solidFill>
                <a:srgbClr val="B8A0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2F9-450B-9DB6-76A01B3FE49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Sea</c:v>
                </c:pt>
                <c:pt idx="1">
                  <c:v>Rail</c:v>
                </c:pt>
                <c:pt idx="2">
                  <c:v>Air</c:v>
                </c:pt>
                <c:pt idx="3">
                  <c:v>Road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7.1</c:v>
                </c:pt>
                <c:pt idx="1">
                  <c:v>6.6</c:v>
                </c:pt>
                <c:pt idx="2">
                  <c:v>5.0999999999999996</c:v>
                </c:pt>
                <c:pt idx="3">
                  <c:v>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2F9-450B-9DB6-76A01B3FE49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0C8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B1A7C"/>
                </a:solidFill>
                <a:latin typeface="Arial"/>
              </a:defRPr>
            </a:pPr>
            <a:r>
              <a:rPr lang="en-US" sz="1600" b="0" i="0" u="none" strike="noStrike" dirty="0">
                <a:solidFill>
                  <a:srgbClr val="4B1A7C"/>
                </a:solidFill>
                <a:latin typeface="Arial"/>
              </a:rPr>
              <a:t>Average Logistics Cost by Supplier Location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Logistics Cost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854-4385-9331-854C332B600A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854-4385-9331-854C332B600A}"/>
              </c:ext>
            </c:extLst>
          </c:dPt>
          <c:dPt>
            <c:idx val="2"/>
            <c:invertIfNegative val="0"/>
            <c:bubble3D val="0"/>
            <c:spPr>
              <a:solidFill>
                <a:srgbClr val="6B3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854-4385-9331-854C332B600A}"/>
              </c:ext>
            </c:extLst>
          </c:dPt>
          <c:dPt>
            <c:idx val="3"/>
            <c:invertIfNegative val="0"/>
            <c:bubble3D val="0"/>
            <c:spPr>
              <a:solidFill>
                <a:srgbClr val="8B6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854-4385-9331-854C332B600A}"/>
              </c:ext>
            </c:extLst>
          </c:dPt>
          <c:dPt>
            <c:idx val="4"/>
            <c:invertIfNegative val="0"/>
            <c:bubble3D val="0"/>
            <c:spPr>
              <a:solidFill>
                <a:srgbClr val="1E7E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854-4385-9331-854C332B600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Chennai</c:v>
                </c:pt>
                <c:pt idx="1">
                  <c:v>Bangalore</c:v>
                </c:pt>
                <c:pt idx="2">
                  <c:v>Delhi</c:v>
                </c:pt>
                <c:pt idx="3">
                  <c:v>Kolkata</c:v>
                </c:pt>
                <c:pt idx="4">
                  <c:v>Mumbai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621.75</c:v>
                </c:pt>
                <c:pt idx="1">
                  <c:v>586.71</c:v>
                </c:pt>
                <c:pt idx="2">
                  <c:v>548.24</c:v>
                </c:pt>
                <c:pt idx="3">
                  <c:v>491.27</c:v>
                </c:pt>
                <c:pt idx="4">
                  <c:v>428.34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854-4385-9331-854C332B600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0C8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607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a logistics and supply chain analytics project built on MySQL, Power BI. It tells a business story: what the problem is, what we found, and what management should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who the stakeholders are and what business problem they face. The key tension is balancing delivery speed, inventory availability, and cost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records, 24 columns. SKU is unique — acts as the candidate key. No transactions date, no customer ID, no profit field — limitations acknowledged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60 seconds. The cleaning was done in MySQL but do not show any SQL on this slide. The point is: the data was verified, standardised, and enriched before any analysis began.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Executive Overview page on screen. Walk through the 5 KPI cards. Explain that the dashboard has 3 pages and filters allow drill-down by product type, supplier, location, transport mode, and inspection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Page 2 of the dashboard. Point to the replenishment table — it gives SKU-level detail: stock level, units sold, supplier, location. Skincare has the strongest demand and the thinnest stock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Page 3. The key message: Supplier 1 is the most expensive but the fastest. Supplier 3 is the cheapest but the slowest. Management should not evaluate suppliers on cost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charts show the inverse relationship between cost and speed. Sea is cheapest but slowest. Air is fastest but most expensive. Road is a balance. Management should match the mode to the urgency of each shipment.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Chennai costs 45% more than Mumbai. This is not a small variance. Management should investigate whether it is driven by transportation mode selection, route distance, specific carrier contracts, or supplier-specific logistics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five headline findings. No jargon. Deliver each one as a business implication — not as a technical observation. Pause after "45% more than Mumbai" and "Supplier 3 is cheapest but slowest" — those land well with operational audiences.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recommendation. Link back to the finding: "Because Chennai costs 45% more, we recommend investigating cost drivers." Make the logic chain clear: insight → recommendation →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each impact directly to the recommendation above it. Management will want to know: what changes for us if we do this? Keep this slide business-focused — avoid technical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Acknowledging limitations demonstrates analytical maturity. Interviewers and instructors respect analysts who know the boundaries of their data. State these clearly and briefly — do not dwell on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30-second closing statement. Deliver it confidently without reading from the slide. The four pillars reinforce the structure of the whole analysis visually.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Be ready to navigate back to specific dashboard pages if asked. Common questions: Why did you use MySQL? What would you do with more data? What is the biggest single recommendation?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4A500"/>
          </a:solidFill>
          <a:ln w="12700">
            <a:solidFill>
              <a:srgbClr val="D4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3A1060"/>
          </a:solidFill>
          <a:ln w="12700">
            <a:solidFill>
              <a:srgbClr val="3A10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SUPPLY CHAIN ANALYTICS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>
                <a:solidFill>
                  <a:schemeClr val="bg1"/>
                </a:solidFill>
              </a:rPr>
              <a:t>Improving Delivery Performance, Inventory Availability &amp; Operational Cost Efficiency</a:t>
            </a:r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5029200" cy="36576"/>
          </a:xfrm>
          <a:prstGeom prst="rect">
            <a:avLst/>
          </a:prstGeom>
          <a:solidFill>
            <a:srgbClr val="D4A500"/>
          </a:solidFill>
          <a:ln w="12700">
            <a:solidFill>
              <a:srgbClr val="D4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·  Power BI  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236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Chidi Onochie Ronald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601200" y="6263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D0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0" y="3749040"/>
            <a:ext cx="1188720" cy="914400"/>
          </a:xfrm>
          <a:prstGeom prst="rect">
            <a:avLst/>
          </a:prstGeom>
          <a:solidFill>
            <a:srgbClr val="5A2090"/>
          </a:solidFill>
          <a:ln w="12700">
            <a:solidFill>
              <a:srgbClr val="7040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858000" y="3794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0" y="42062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19872" y="3749040"/>
            <a:ext cx="1188720" cy="914400"/>
          </a:xfrm>
          <a:prstGeom prst="rect">
            <a:avLst/>
          </a:prstGeom>
          <a:solidFill>
            <a:srgbClr val="5A2090"/>
          </a:solidFill>
          <a:ln w="12700">
            <a:solidFill>
              <a:srgbClr val="7040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119872" y="3794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577K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19872" y="42062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381744" y="3749040"/>
            <a:ext cx="1188720" cy="914400"/>
          </a:xfrm>
          <a:prstGeom prst="rect">
            <a:avLst/>
          </a:prstGeom>
          <a:solidFill>
            <a:srgbClr val="5A2090"/>
          </a:solidFill>
          <a:ln w="12700">
            <a:solidFill>
              <a:srgbClr val="7040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381744" y="3794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dirty="0">
                <a:solidFill>
                  <a:srgbClr val="FFC000"/>
                </a:solidFill>
              </a:rPr>
              <a:t>9.16%</a:t>
            </a:r>
          </a:p>
        </p:txBody>
      </p:sp>
      <p:sp>
        <p:nvSpPr>
          <p:cNvPr id="21" name="Text 19"/>
          <p:cNvSpPr/>
          <p:nvPr/>
        </p:nvSpPr>
        <p:spPr>
          <a:xfrm>
            <a:off x="9381744" y="42062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Cost 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643616" y="3749040"/>
            <a:ext cx="1188720" cy="914400"/>
          </a:xfrm>
          <a:prstGeom prst="rect">
            <a:avLst/>
          </a:prstGeom>
          <a:solidFill>
            <a:srgbClr val="5A2090"/>
          </a:solidFill>
          <a:ln w="12700">
            <a:solidFill>
              <a:srgbClr val="7040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643616" y="3794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dirty="0">
                <a:solidFill>
                  <a:srgbClr val="FFC000"/>
                </a:solidFill>
              </a:rPr>
              <a:t>17.1 days</a:t>
            </a:r>
          </a:p>
        </p:txBody>
      </p:sp>
      <p:sp>
        <p:nvSpPr>
          <p:cNvPr id="24" name="Text 22"/>
          <p:cNvSpPr/>
          <p:nvPr/>
        </p:nvSpPr>
        <p:spPr>
          <a:xfrm>
            <a:off x="10643616" y="42062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400" dirty="0">
                <a:solidFill>
                  <a:schemeClr val="bg1"/>
                </a:solidFill>
              </a:rPr>
              <a:t>Avg Supplier Lead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8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9D9D9"/>
                </a:solidFill>
                <a:latin typeface="Aptos"/>
              </a:rPr>
              <a:t>PROJECT BY  </a:t>
            </a:r>
            <a:r>
              <a:rPr sz="1600" b="1">
                <a:solidFill>
                  <a:srgbClr val="FFFFFF"/>
                </a:solidFill>
                <a:latin typeface="Aptos"/>
              </a:rPr>
              <a:t>Chidi Onochie Ronald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45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0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analysis serves and why it matters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148840" cy="5029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214884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delivery performance, inventory availability &amp; logistics cost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70048" y="1188720"/>
            <a:ext cx="2148840" cy="5029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670048" y="1188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70048" y="1691640"/>
            <a:ext cx="214884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761488" y="178308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transportation modes, routes, shipping time &amp; regional cost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74336" y="1188720"/>
            <a:ext cx="2148840" cy="5029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974336" y="1188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74336" y="1691640"/>
            <a:ext cx="214884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065776" y="178308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supplier cost, lead time &amp; quality performance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78624" y="1188720"/>
            <a:ext cx="2148840" cy="5029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278624" y="1188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78624" y="1691640"/>
            <a:ext cx="214884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370064" y="178308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replenishment for low-stock &amp; high-demand SKUs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582912" y="1188720"/>
            <a:ext cx="2148840" cy="5029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582912" y="1188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Mgmt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82912" y="1691640"/>
            <a:ext cx="214884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674352" y="178308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revenue, logistics cost &amp; overall cost efficiency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5760" y="3794760"/>
            <a:ext cx="11338560" cy="269748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0080" y="3886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4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5800" y="43159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/>
                </a:solidFill>
              </a:rPr>
              <a:t>▸  How do logistics costs compare across modes, suppliers and regions?</a:t>
            </a:r>
          </a:p>
        </p:txBody>
      </p:sp>
      <p:sp>
        <p:nvSpPr>
          <p:cNvPr id="29" name="Text 27"/>
          <p:cNvSpPr/>
          <p:nvPr/>
        </p:nvSpPr>
        <p:spPr>
          <a:xfrm>
            <a:off x="685800" y="480060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/>
                </a:solidFill>
              </a:rPr>
              <a:t>▸  Which low-stock and high-demand SKUs need immediate replenishment?</a:t>
            </a:r>
          </a:p>
        </p:txBody>
      </p:sp>
      <p:sp>
        <p:nvSpPr>
          <p:cNvPr id="30" name="Text 28"/>
          <p:cNvSpPr/>
          <p:nvPr/>
        </p:nvSpPr>
        <p:spPr>
          <a:xfrm>
            <a:off x="685800" y="52852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/>
                </a:solidFill>
              </a:rPr>
              <a:t>▸  Which suppliers balance cost, speed and quality most effectively?</a:t>
            </a:r>
          </a:p>
        </p:txBody>
      </p:sp>
      <p:sp>
        <p:nvSpPr>
          <p:cNvPr id="31" name="Text 29"/>
          <p:cNvSpPr/>
          <p:nvPr/>
        </p:nvSpPr>
        <p:spPr>
          <a:xfrm>
            <a:off x="685800" y="5769864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chemeClr val="bg1"/>
                </a:solidFill>
              </a:rPr>
              <a:t>▸  Where can upstream, transportation and regional changes reduce avoidable cost?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160"/>
            <a:ext cx="12161520" cy="6858000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45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0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was analysed and what it covers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DE"/>
            </a:solidFill>
            <a:prstDash val="solid"/>
          </a:ln>
          <a:effectLst>
            <a:outerShdw blurRad="101600" dist="381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1854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SKU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2344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DE"/>
            </a:solidFill>
            <a:prstDash val="solid"/>
          </a:ln>
          <a:effectLst>
            <a:outerShdw blurRad="101600" dist="381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89120" y="1371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389120" y="1892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21854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 quality fields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0" y="12344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DE"/>
            </a:solidFill>
            <a:prstDash val="solid"/>
          </a:ln>
          <a:effectLst>
            <a:outerShdw blurRad="101600" dist="381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321040" y="1371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21040" y="1892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21854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1 – Supplier 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20116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DE"/>
            </a:solidFill>
            <a:prstDash val="solid"/>
          </a:ln>
          <a:effectLst>
            <a:outerShdw blurRad="101600" dist="381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7200" y="3447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Locations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3739896"/>
            <a:ext cx="2011680" cy="3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· Mumbai · Bangalore · Delhi · Kolkata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89120" y="278892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DE"/>
            </a:solidFill>
            <a:prstDash val="solid"/>
          </a:ln>
          <a:effectLst>
            <a:outerShdw blurRad="101600" dist="381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389120" y="2926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389120" y="3447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Modes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89120" y="37398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· Rail · Air · Sea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321040" y="278892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8DE"/>
            </a:solidFill>
            <a:prstDash val="solid"/>
          </a:ln>
          <a:effectLst>
            <a:outerShdw blurRad="101600" dist="381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321040" y="2926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321040" y="3447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SKUs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21040" y="37398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primary key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3657600" cy="3474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57200" y="4434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Inventory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4782312"/>
            <a:ext cx="3657600" cy="178308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48640" y="48463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SKU · Product Type · Price · Availability · Stock · Units Sold · Revenue</a:t>
            </a:r>
          </a:p>
        </p:txBody>
      </p:sp>
      <p:sp>
        <p:nvSpPr>
          <p:cNvPr id="34" name="Shape 32"/>
          <p:cNvSpPr/>
          <p:nvPr/>
        </p:nvSpPr>
        <p:spPr>
          <a:xfrm>
            <a:off x="4343400" y="4434840"/>
            <a:ext cx="3657600" cy="3474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343400" y="4434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&amp; Logistics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343400" y="4782312"/>
            <a:ext cx="3657600" cy="178308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434840" y="48463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Supplier · Location · Lead Time · Logistics Cost · Mode · Route</a:t>
            </a:r>
          </a:p>
        </p:txBody>
      </p:sp>
      <p:sp>
        <p:nvSpPr>
          <p:cNvPr id="38" name="Shape 36"/>
          <p:cNvSpPr/>
          <p:nvPr/>
        </p:nvSpPr>
        <p:spPr>
          <a:xfrm>
            <a:off x="8229600" y="4434840"/>
            <a:ext cx="3657600" cy="3474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8229600" y="4434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Quality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229600" y="4782312"/>
            <a:ext cx="3657600" cy="178308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8321040" y="48463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Shipping · Manufacturing · Inspection · Defect Rate ·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45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0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used to validate, standardise and enrich the dataset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3703320" cy="201168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3703320" cy="41148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21208" y="12710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NULL Checks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NULL values found across all key fields. Dataset was complete and ready for analysis.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15968" y="1234440"/>
            <a:ext cx="3703320" cy="201168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315968" y="1234440"/>
            <a:ext cx="3703320" cy="41148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425696" y="12710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Duplicate Detection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53128" y="173736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SKU values. No complete duplicate records detected. SKU confirmed as candidate key.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0456" y="1234440"/>
            <a:ext cx="3703320" cy="201168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220456" y="1234440"/>
            <a:ext cx="3703320" cy="41148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330184" y="12710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Standardisation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57616" y="173736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MySQL to rename and standardise multiple column field names; text fields were trimmed; ProductType was standardised to lowercase.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1480" y="3429000"/>
            <a:ext cx="3703320" cy="201168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11480" y="3429000"/>
            <a:ext cx="3703320" cy="41148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21208" y="34655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Data Type Correction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93192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and numerical fields converted to DECIMAL and INT types for accurate aggregations.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15968" y="3429000"/>
            <a:ext cx="3703320" cy="201168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315968" y="3429000"/>
            <a:ext cx="3703320" cy="41148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425696" y="34655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Validation Checks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53128" y="393192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fields verified. Numerical ranges checked using MIN, MAX and AVG for unusual values.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20456" y="3429000"/>
            <a:ext cx="3703320" cy="201168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220456" y="3429000"/>
            <a:ext cx="3703320" cy="41148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330184" y="34655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Derived Fields Added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57616" y="393192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 dirty="0"/>
              <a:t>InventoryStatus · InventoryMovementRatio · LogisticsCostPercentage created; expanded EDA and business-analysis queries added for pricing, availability, carriers, manufacturing and quality.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45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  —  Executive Summary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0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Three-page Power BI solution: KPIs · Inventory · Supplier &amp; Logistics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7315200" cy="4572000"/>
          </a:xfrm>
          <a:prstGeom prst="rect">
            <a:avLst/>
          </a:prstGeom>
          <a:solidFill>
            <a:srgbClr val="E8E0F0"/>
          </a:solidFill>
          <a:ln w="1270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909560" y="1188720"/>
            <a:ext cx="38404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508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909560" y="1188720"/>
            <a:ext cx="164592" cy="841248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119872" y="12435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119872" y="1591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19872" y="17739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SKU records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09560" y="2139696"/>
            <a:ext cx="38404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508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909560" y="2139696"/>
            <a:ext cx="164592" cy="841248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119872" y="2194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577.6K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19872" y="25420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19872" y="27249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revenue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09560" y="3090672"/>
            <a:ext cx="38404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508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909560" y="3090672"/>
            <a:ext cx="164592" cy="841248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119872" y="31455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19872" y="34930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Costs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19872" y="36758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9.16% of revenue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09560" y="4041648"/>
            <a:ext cx="38404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508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909560" y="4041648"/>
            <a:ext cx="164592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119872" y="4096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119872" y="44439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Products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19872" y="46268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 needed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09560" y="4992624"/>
            <a:ext cx="38404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508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909560" y="4992624"/>
            <a:ext cx="164592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119872" y="50474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119872" y="53949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19872" y="55778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</a:t>
            </a:r>
            <a:endParaRPr lang="en-US" sz="16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808D2CC-3C22-1E91-D60E-17CC4DC36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29" y="1113034"/>
            <a:ext cx="7551124" cy="47513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6995160" y="3785615"/>
            <a:ext cx="4754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45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Product Insights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0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the dashboard — stock levels, demand and replenishment priority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93040" y="1143000"/>
            <a:ext cx="6619240" cy="4023360"/>
          </a:xfrm>
          <a:prstGeom prst="rect">
            <a:avLst/>
          </a:prstGeom>
          <a:solidFill>
            <a:srgbClr val="E8E0F0"/>
          </a:solidFill>
          <a:ln w="1270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995160" y="1188720"/>
            <a:ext cx="475488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508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543800" y="12618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3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Low-Stock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43800" y="158191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with 1–20 units — replenishment priority table provided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95160" y="2487168"/>
            <a:ext cx="475488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508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543800" y="25603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3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200" b="1" dirty="0">
                <a:solidFill>
                  <a:srgbClr val="4E3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4E3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43800" y="288036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KU68 (haircare) — stock = 0, units sold 163 — immediate action needed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95160" y="5084064"/>
            <a:ext cx="475488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508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543800" y="515721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3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Leads Demand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43800" y="5477256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dirty="0">
                <a:solidFill>
                  <a:srgbClr val="2D2346"/>
                </a:solidFill>
                <a:latin typeface="Calibri"/>
              </a:rPr>
              <a:t>Demand + Stock Risk</a:t>
            </a:r>
          </a:p>
        </p:txBody>
      </p:sp>
      <p:sp>
        <p:nvSpPr>
          <p:cNvPr id="24" name="Shape 22"/>
          <p:cNvSpPr/>
          <p:nvPr/>
        </p:nvSpPr>
        <p:spPr>
          <a:xfrm>
            <a:off x="411480" y="5501640"/>
            <a:ext cx="640080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</p:spPr>
        <p:txBody>
          <a:bodyPr lIns="137160" tIns="73152" rIns="109728" bIns="54864"/>
          <a:lstStyle/>
          <a:p>
            <a:pPr>
              <a:spcAft>
                <a:spcPts val="200"/>
              </a:spcAft>
            </a:pPr>
            <a:r>
              <a:rPr b="1" dirty="0">
                <a:solidFill>
                  <a:srgbClr val="4E3587"/>
                </a:solidFill>
                <a:latin typeface="Calibri"/>
              </a:rPr>
              <a:t>Key Message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346"/>
                </a:solidFill>
                <a:latin typeface="Calibri"/>
              </a:rPr>
              <a:t>13 low-stock SKUs have already sold at least 500 units. Skincare leads demand while carrying the lowest average stock, so demand-based replenishment should be prioritized.</a:t>
            </a:r>
          </a:p>
        </p:txBody>
      </p:sp>
      <p:sp>
        <p:nvSpPr>
          <p:cNvPr id="29" name="Isosceles Triangle 28"/>
          <p:cNvSpPr/>
          <p:nvPr/>
        </p:nvSpPr>
        <p:spPr>
          <a:xfrm>
            <a:off x="7059168" y="1280160"/>
            <a:ext cx="420624" cy="420624"/>
          </a:xfrm>
          <a:prstGeom prst="triangle">
            <a:avLst/>
          </a:prstGeom>
          <a:solidFill>
            <a:srgbClr val="FFE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41464" y="1353312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237D"/>
                </a:solidFill>
                <a:latin typeface="Aptos"/>
              </a:rPr>
              <a:t>!</a:t>
            </a:r>
          </a:p>
        </p:txBody>
      </p:sp>
      <p:sp>
        <p:nvSpPr>
          <p:cNvPr id="31" name="Oval 30"/>
          <p:cNvSpPr/>
          <p:nvPr/>
        </p:nvSpPr>
        <p:spPr>
          <a:xfrm>
            <a:off x="7059168" y="2578608"/>
            <a:ext cx="420624" cy="420624"/>
          </a:xfrm>
          <a:prstGeom prst="ellipse">
            <a:avLst/>
          </a:prstGeom>
          <a:solidFill>
            <a:srgbClr val="EB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155180" y="4064508"/>
            <a:ext cx="22860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059168" y="5175504"/>
            <a:ext cx="420624" cy="420624"/>
          </a:xfrm>
          <a:prstGeom prst="roundRect">
            <a:avLst/>
          </a:prstGeom>
          <a:solidFill>
            <a:srgbClr val="EEE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132320" y="5394960"/>
            <a:ext cx="50292" cy="91440"/>
          </a:xfrm>
          <a:prstGeom prst="rect">
            <a:avLst/>
          </a:prstGeom>
          <a:solidFill>
            <a:srgbClr val="4E2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214616" y="5330952"/>
            <a:ext cx="50292" cy="155448"/>
          </a:xfrm>
          <a:prstGeom prst="rect">
            <a:avLst/>
          </a:prstGeom>
          <a:solidFill>
            <a:srgbClr val="4E2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296912" y="5257800"/>
            <a:ext cx="50292" cy="228600"/>
          </a:xfrm>
          <a:prstGeom prst="rect">
            <a:avLst/>
          </a:prstGeom>
          <a:solidFill>
            <a:srgbClr val="4E2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D0A615D1-0A61-E65C-4C68-71520F0F5143}"/>
              </a:ext>
            </a:extLst>
          </p:cNvPr>
          <p:cNvSpPr/>
          <p:nvPr/>
        </p:nvSpPr>
        <p:spPr>
          <a:xfrm>
            <a:off x="7018528" y="3798823"/>
            <a:ext cx="475488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508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383780" y="4178808"/>
            <a:ext cx="42748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 across all 100 SKUs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65718" y="3995928"/>
            <a:ext cx="383286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3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46,099 Units</a:t>
            </a:r>
            <a:endParaRPr lang="en-US" sz="1600" dirty="0"/>
          </a:p>
        </p:txBody>
      </p:sp>
      <p:sp>
        <p:nvSpPr>
          <p:cNvPr id="32" name="Cube 31"/>
          <p:cNvSpPr/>
          <p:nvPr/>
        </p:nvSpPr>
        <p:spPr>
          <a:xfrm>
            <a:off x="7130288" y="3921759"/>
            <a:ext cx="420624" cy="420624"/>
          </a:xfrm>
          <a:prstGeom prst="cube">
            <a:avLst/>
          </a:prstGeom>
          <a:solidFill>
            <a:srgbClr val="DDC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6FEBF7-8BEB-F9F3-8CA1-5B3C2B4DC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09" y="1078992"/>
            <a:ext cx="6791156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45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&amp; Logistics Performance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0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the dashboard — cost, speed and supplier differences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21920" y="1143000"/>
            <a:ext cx="6690360" cy="4700016"/>
          </a:xfrm>
          <a:prstGeom prst="rect">
            <a:avLst/>
          </a:prstGeom>
          <a:solidFill>
            <a:srgbClr val="E8E0F0"/>
          </a:solidFill>
          <a:ln w="1270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995160" y="1188720"/>
            <a:ext cx="2240280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995160" y="1188720"/>
            <a:ext cx="2240280" cy="256032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995160" y="14630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E3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95160" y="1801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r>
              <a:rPr lang="en-US" sz="105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418320" y="1188720"/>
            <a:ext cx="2240280" cy="86868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418320" y="1188720"/>
            <a:ext cx="2240280" cy="256032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418320" y="14630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E3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18320" y="1801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r>
              <a:rPr lang="en-US" sz="105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95160" y="3246120"/>
            <a:ext cx="4754880" cy="310896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022592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28432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88552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94392" y="327355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95160" y="3557016"/>
            <a:ext cx="4754880" cy="2752344"/>
          </a:xfrm>
          <a:prstGeom prst="rect">
            <a:avLst/>
          </a:prstGeom>
          <a:solidFill>
            <a:srgbClr val="FFFFFF"/>
          </a:solidFill>
          <a:ln w="508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022592" y="364845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r>
              <a:rPr lang="en-US" sz="95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28432" y="36484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574.85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88552" y="364845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 days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94392" y="364845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r>
              <a:rPr lang="en-US" sz="95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· Fastest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22592" y="41970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r>
              <a:rPr lang="en-US" sz="95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28432" y="41970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515.03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988552" y="419709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 days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994392" y="419709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cost · Mid speed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22592" y="474573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r>
              <a:rPr lang="en-US" sz="95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28432" y="47457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468.80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988552" y="474573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 days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994392" y="474573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 · Slowest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22592" y="529437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r>
              <a:rPr lang="en-US" sz="95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28432" y="52943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521.81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988552" y="529437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 days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994392" y="529437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cost · Mid speed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22592" y="584301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r>
              <a:rPr lang="en-US" sz="95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28432" y="58430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536.02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988552" y="584301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days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994392" y="5843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 · Average speed</a:t>
            </a:r>
            <a:endParaRPr lang="en-US" sz="1600" dirty="0"/>
          </a:p>
        </p:txBody>
      </p:sp>
      <p:sp>
        <p:nvSpPr>
          <p:cNvPr id="56" name="Rectangle 55"/>
          <p:cNvSpPr/>
          <p:nvPr/>
        </p:nvSpPr>
        <p:spPr>
          <a:xfrm>
            <a:off x="6995160" y="2194560"/>
            <a:ext cx="22402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995160" y="2194560"/>
            <a:ext cx="2240280" cy="256032"/>
          </a:xfrm>
          <a:prstGeom prst="rect">
            <a:avLst/>
          </a:prstGeom>
          <a:solidFill>
            <a:srgbClr val="4E2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995160" y="2468879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E237D"/>
                </a:solidFill>
                <a:latin typeface="Aptos"/>
              </a:rPr>
              <a:t>$529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95160" y="2816352"/>
            <a:ext cx="2240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D2837"/>
                </a:solidFill>
                <a:latin typeface="Aptos"/>
              </a:rPr>
              <a:t>Avg Cost/Order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2194560"/>
            <a:ext cx="22402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418320" y="2194560"/>
            <a:ext cx="2240280" cy="256032"/>
          </a:xfrm>
          <a:prstGeom prst="rect">
            <a:avLst/>
          </a:prstGeom>
          <a:solidFill>
            <a:srgbClr val="4E2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418320" y="2468879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E237D"/>
                </a:solidFill>
                <a:latin typeface="Aptos"/>
              </a:rPr>
              <a:t>17.1 days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20" y="2816352"/>
            <a:ext cx="2240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D2837"/>
                </a:solidFill>
                <a:latin typeface="Aptos"/>
              </a:rPr>
              <a:t>Avg Lead Time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F89148-5C2C-356A-9A2C-270EC786A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" y="1150112"/>
            <a:ext cx="6812281" cy="50881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45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Transportation — Cost vs Speed Trade-Off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0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mode for the right shipment</a:t>
            </a:r>
            <a:endParaRPr lang="en-US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864683039"/>
              </p:ext>
            </p:extLst>
          </p:nvPr>
        </p:nvGraphicFramePr>
        <p:xfrm>
          <a:off x="457200" y="114300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2001118241"/>
              </p:ext>
            </p:extLst>
          </p:nvPr>
        </p:nvGraphicFramePr>
        <p:xfrm>
          <a:off x="6035040" y="114300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572000"/>
            <a:ext cx="10881360" cy="192024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685800" y="46634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85800" y="504748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/>
              <a:t>🟢  </a:t>
            </a:r>
            <a:r>
              <a:rPr sz="1600" dirty="0">
                <a:solidFill>
                  <a:schemeClr val="bg1"/>
                </a:solidFill>
              </a:rPr>
              <a:t>Sea is the cheapest mode (417.82 avg) — but the slowest at 7.1 days. Best for non-urgent or bulk shipments.</a:t>
            </a:r>
          </a:p>
        </p:txBody>
      </p:sp>
      <p:sp>
        <p:nvSpPr>
          <p:cNvPr id="11" name="Text 7"/>
          <p:cNvSpPr/>
          <p:nvPr/>
        </p:nvSpPr>
        <p:spPr>
          <a:xfrm>
            <a:off x="685800" y="5385816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dirty="0">
                <a:solidFill>
                  <a:schemeClr val="bg1"/>
                </a:solidFill>
              </a:rPr>
              <a:t>🟡  Air is the most expensive (561.71 avg) and has the highest average order lead time at 18.3 days. Reserve for critical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</a:t>
            </a:r>
            <a:r>
              <a:rPr sz="1600" dirty="0">
                <a:solidFill>
                  <a:schemeClr val="bg1"/>
                </a:solidFill>
              </a:rPr>
              <a:t> shipments.</a:t>
            </a:r>
          </a:p>
        </p:txBody>
      </p:sp>
      <p:sp>
        <p:nvSpPr>
          <p:cNvPr id="12" name="Text 8"/>
          <p:cNvSpPr/>
          <p:nvPr/>
        </p:nvSpPr>
        <p:spPr>
          <a:xfrm>
            <a:off x="685800" y="572414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dirty="0">
                <a:solidFill>
                  <a:schemeClr val="bg1"/>
                </a:solidFill>
              </a:rPr>
              <a:t>📌  Road has the fastest shipping time (4.7 days) at 553.39 avg logistics cost. Useful for time-sensitive regional delivery.</a:t>
            </a:r>
          </a:p>
        </p:txBody>
      </p:sp>
      <p:sp>
        <p:nvSpPr>
          <p:cNvPr id="13" name="Text 9"/>
          <p:cNvSpPr/>
          <p:nvPr/>
        </p:nvSpPr>
        <p:spPr>
          <a:xfrm>
            <a:off x="685800" y="606247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dirty="0">
                <a:solidFill>
                  <a:schemeClr val="bg1"/>
                </a:solidFill>
              </a:rPr>
              <a:t>💡  Select the mode based on urgency, shipment economics and service requirements — not cost or speed alone.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45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Logistics Efficiency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0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logistics cost varies significantly by supplier location</a:t>
            </a:r>
            <a:endParaRPr lang="en-US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753332322"/>
              </p:ext>
            </p:extLst>
          </p:nvPr>
        </p:nvGraphicFramePr>
        <p:xfrm>
          <a:off x="457200" y="1143000"/>
          <a:ext cx="65836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223760" y="1183640"/>
            <a:ext cx="45720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7223760" y="1161288"/>
            <a:ext cx="457200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315200" y="12527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 —  621.75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60920" y="1636776"/>
            <a:ext cx="4389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dirty="0"/>
              <a:t>HIGHEST cost — 45% above Mumbai. Review mode, route, carrier and supplier drivers.</a:t>
            </a:r>
          </a:p>
        </p:txBody>
      </p:sp>
      <p:sp>
        <p:nvSpPr>
          <p:cNvPr id="11" name="Shape 8"/>
          <p:cNvSpPr/>
          <p:nvPr/>
        </p:nvSpPr>
        <p:spPr>
          <a:xfrm>
            <a:off x="7223760" y="2898648"/>
            <a:ext cx="45720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7223760" y="2898648"/>
            <a:ext cx="4572000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7315200" y="29169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586.71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360920" y="3300984"/>
            <a:ext cx="4389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dirty="0"/>
              <a:t>Second highest — 37% above Mumbai. Review carrier and route assignments.</a:t>
            </a:r>
          </a:p>
        </p:txBody>
      </p:sp>
      <p:sp>
        <p:nvSpPr>
          <p:cNvPr id="15" name="Shape 12"/>
          <p:cNvSpPr/>
          <p:nvPr/>
        </p:nvSpPr>
        <p:spPr>
          <a:xfrm>
            <a:off x="7223760" y="4562856"/>
            <a:ext cx="45720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7E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7223760" y="4562856"/>
            <a:ext cx="4572000" cy="329184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315200" y="45811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 —  428.34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360920" y="4965192"/>
            <a:ext cx="4389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dirty="0"/>
              <a:t>LOWEST cost — benchmark for efficient regional operations.</a:t>
            </a:r>
          </a:p>
        </p:txBody>
      </p:sp>
      <p:sp>
        <p:nvSpPr>
          <p:cNvPr id="19" name="Shape 16"/>
          <p:cNvSpPr/>
          <p:nvPr/>
        </p:nvSpPr>
        <p:spPr>
          <a:xfrm>
            <a:off x="457200" y="6067552"/>
            <a:ext cx="6675120" cy="77724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640080" y="61722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dirty="0">
                <a:solidFill>
                  <a:schemeClr val="bg1"/>
                </a:solidFill>
              </a:rPr>
              <a:t>💡 Management Action: The 193 per-order Chennai–Mumbai gap should </a:t>
            </a:r>
            <a:r>
              <a:rPr lang="en-US" sz="1600" dirty="0">
                <a:solidFill>
                  <a:schemeClr val="bg1"/>
                </a:solidFill>
              </a:rPr>
              <a:t>  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</a:t>
            </a:r>
            <a:r>
              <a:rPr sz="1600" dirty="0">
                <a:solidFill>
                  <a:schemeClr val="bg1"/>
                </a:solidFill>
              </a:rPr>
              <a:t>be investigated before network or supplier decisions are scaled.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45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solidFill>
                  <a:srgbClr val="D0BDF0"/>
                </a:solidFill>
                <a:latin typeface="Calibri"/>
              </a:rPr>
              <a:t>Five findings that management must act on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703320" cy="233172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37033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252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252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261872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Risk Is Material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1709928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low-stock SKUs and 1 out-of-stock product. Without action, stock-outs will disrupt order fulfillment. SKU-level replenishment data is available in the dashboard.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70248" y="1234440"/>
            <a:ext cx="3703320" cy="233172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270248" y="1234440"/>
            <a:ext cx="3703320" cy="38404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361688" y="1252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1252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1261872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50" dirty="0">
                <a:solidFill>
                  <a:schemeClr val="bg1"/>
                </a:solidFill>
              </a:rPr>
              <a:t>Skincare Has High Demand + Low Stock</a:t>
            </a:r>
          </a:p>
        </p:txBody>
      </p:sp>
      <p:sp>
        <p:nvSpPr>
          <p:cNvPr id="17" name="Text 15"/>
          <p:cNvSpPr/>
          <p:nvPr/>
        </p:nvSpPr>
        <p:spPr>
          <a:xfrm>
            <a:off x="4407408" y="1709928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 dirty="0"/>
              <a:t>Skincare averages 518 units sold per SKU and only 40.2 units of stock — the strongest demand-driven replenishment risk.</a:t>
            </a:r>
          </a:p>
        </p:txBody>
      </p:sp>
      <p:sp>
        <p:nvSpPr>
          <p:cNvPr id="18" name="Shape 16"/>
          <p:cNvSpPr/>
          <p:nvPr/>
        </p:nvSpPr>
        <p:spPr>
          <a:xfrm>
            <a:off x="8174736" y="1234440"/>
            <a:ext cx="3703320" cy="233172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174736" y="1234440"/>
            <a:ext cx="3703320" cy="38404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66176" y="1252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13648" y="1252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🚢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79408" y="1261872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50" dirty="0">
                <a:solidFill>
                  <a:schemeClr val="bg1"/>
                </a:solidFill>
              </a:rPr>
              <a:t>Supplier 4 Is a Quality &amp; Cost Risk</a:t>
            </a:r>
          </a:p>
        </p:txBody>
      </p:sp>
      <p:sp>
        <p:nvSpPr>
          <p:cNvPr id="23" name="Text 21"/>
          <p:cNvSpPr/>
          <p:nvPr/>
        </p:nvSpPr>
        <p:spPr>
          <a:xfrm>
            <a:off x="8311896" y="1709928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 dirty="0"/>
              <a:t>Supplier 4 has a 66.7% inspection failure rate, 62.71 average manufacturing cost and the lowest average revenue.</a:t>
            </a:r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5760720" cy="233172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57607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57200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🗺️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70432" y="3776472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50" dirty="0">
                <a:solidFill>
                  <a:schemeClr val="bg1"/>
                </a:solidFill>
              </a:rPr>
              <a:t>Regional Logistics Cost Is Uneven</a:t>
            </a:r>
          </a:p>
        </p:txBody>
      </p:sp>
      <p:sp>
        <p:nvSpPr>
          <p:cNvPr id="29" name="Text 27"/>
          <p:cNvSpPr/>
          <p:nvPr/>
        </p:nvSpPr>
        <p:spPr>
          <a:xfrm>
            <a:off x="502920" y="4224528"/>
            <a:ext cx="5532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 dirty="0"/>
              <a:t>Chennai averages 621.75 logistics cost versus 428.34 in Mumbai — a 193 gap that warrants root-cause analysis.</a:t>
            </a:r>
          </a:p>
        </p:txBody>
      </p:sp>
      <p:sp>
        <p:nvSpPr>
          <p:cNvPr id="30" name="Shape 28"/>
          <p:cNvSpPr/>
          <p:nvPr/>
        </p:nvSpPr>
        <p:spPr>
          <a:xfrm>
            <a:off x="6309360" y="3749040"/>
            <a:ext cx="5760720" cy="233172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309360" y="3749040"/>
            <a:ext cx="5760720" cy="38404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400800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48272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🏭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14032" y="3776472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50" dirty="0">
                <a:solidFill>
                  <a:schemeClr val="bg1"/>
                </a:solidFill>
              </a:rPr>
              <a:t>Upstream Lead Time Needs Attention</a:t>
            </a:r>
          </a:p>
        </p:txBody>
      </p:sp>
      <p:sp>
        <p:nvSpPr>
          <p:cNvPr id="35" name="Text 33"/>
          <p:cNvSpPr/>
          <p:nvPr/>
        </p:nvSpPr>
        <p:spPr>
          <a:xfrm>
            <a:off x="6446520" y="4224528"/>
            <a:ext cx="5532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 dirty="0"/>
              <a:t>Supplier lead time averages 17.1 days and manufacturing lead time 14.8 days versus 5.8 days shipping, pointing to upstream improvement opportunities.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45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0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prioritised actions for management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47472" y="1188720"/>
            <a:ext cx="35661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C8DE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47472" y="1188720"/>
            <a:ext cx="347472" cy="14173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56616" y="173736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00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07792" y="1280160"/>
            <a:ext cx="9144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907792" y="1280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" y="128016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50" dirty="0"/>
              <a:t>Replenish 26 Low-Stock SKUs</a:t>
            </a:r>
          </a:p>
        </p:txBody>
      </p:sp>
      <p:sp>
        <p:nvSpPr>
          <p:cNvPr id="12" name="Text 10"/>
          <p:cNvSpPr/>
          <p:nvPr/>
        </p:nvSpPr>
        <p:spPr>
          <a:xfrm>
            <a:off x="758952" y="1691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 dirty="0"/>
              <a:t>Prioritize the 13 low-stock SKUs that have already sold at least 500 units.</a:t>
            </a:r>
          </a:p>
        </p:txBody>
      </p:sp>
      <p:sp>
        <p:nvSpPr>
          <p:cNvPr id="13" name="Shape 11"/>
          <p:cNvSpPr/>
          <p:nvPr/>
        </p:nvSpPr>
        <p:spPr>
          <a:xfrm>
            <a:off x="4251960" y="1188720"/>
            <a:ext cx="35661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C8DE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251960" y="1188720"/>
            <a:ext cx="347472" cy="14173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261104" y="173736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00"/>
                </a:solidFill>
              </a:rPr>
              <a:t>02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12280" y="1280160"/>
            <a:ext cx="9144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12280" y="1280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2801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50" dirty="0"/>
              <a:t>Protect Skincare + Review Haircare</a:t>
            </a:r>
          </a:p>
        </p:txBody>
      </p:sp>
      <p:sp>
        <p:nvSpPr>
          <p:cNvPr id="19" name="Text 17"/>
          <p:cNvSpPr/>
          <p:nvPr/>
        </p:nvSpPr>
        <p:spPr>
          <a:xfrm>
            <a:off x="4663440" y="1691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 dirty="0"/>
              <a:t>Tighten skincare reorder points and address haircare's lower availability and higher defect rate.</a:t>
            </a:r>
          </a:p>
        </p:txBody>
      </p:sp>
      <p:sp>
        <p:nvSpPr>
          <p:cNvPr id="20" name="Shape 18"/>
          <p:cNvSpPr/>
          <p:nvPr/>
        </p:nvSpPr>
        <p:spPr>
          <a:xfrm>
            <a:off x="8156448" y="1188720"/>
            <a:ext cx="35661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C8DE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156448" y="1188720"/>
            <a:ext cx="347472" cy="14173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165592" y="173736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00"/>
                </a:solidFill>
              </a:rPr>
              <a:t>03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716768" y="1280160"/>
            <a:ext cx="91440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716768" y="1280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67928" y="1280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dirty="0"/>
              <a:t>Review Supplier 4</a:t>
            </a:r>
            <a:endParaRPr sz="1450" dirty="0"/>
          </a:p>
        </p:txBody>
      </p:sp>
      <p:sp>
        <p:nvSpPr>
          <p:cNvPr id="26" name="Text 24"/>
          <p:cNvSpPr/>
          <p:nvPr/>
        </p:nvSpPr>
        <p:spPr>
          <a:xfrm>
            <a:off x="8567928" y="16002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 dirty="0"/>
              <a:t>Set corrective actions for the 66.7% inspection failure rate and high manufacturing cost.</a:t>
            </a:r>
          </a:p>
        </p:txBody>
      </p:sp>
      <p:sp>
        <p:nvSpPr>
          <p:cNvPr id="27" name="Shape 25"/>
          <p:cNvSpPr/>
          <p:nvPr/>
        </p:nvSpPr>
        <p:spPr>
          <a:xfrm>
            <a:off x="347472" y="3749040"/>
            <a:ext cx="3566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C8DE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347472" y="3749040"/>
            <a:ext cx="347472" cy="14173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356616" y="429768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00"/>
                </a:solidFill>
              </a:rPr>
              <a:t>04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907792" y="3840480"/>
            <a:ext cx="9144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907792" y="3840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8952" y="390448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50" dirty="0"/>
              <a:t>Investigate Chennai &amp; Bangalore</a:t>
            </a:r>
          </a:p>
        </p:txBody>
      </p:sp>
      <p:sp>
        <p:nvSpPr>
          <p:cNvPr id="33" name="Text 31"/>
          <p:cNvSpPr/>
          <p:nvPr/>
        </p:nvSpPr>
        <p:spPr>
          <a:xfrm>
            <a:off x="758952" y="42976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 dirty="0"/>
              <a:t>Review route, carrier, mode mix and supplier terms behind the high regional logistics cost.</a:t>
            </a:r>
          </a:p>
        </p:txBody>
      </p:sp>
      <p:sp>
        <p:nvSpPr>
          <p:cNvPr id="34" name="Shape 32"/>
          <p:cNvSpPr/>
          <p:nvPr/>
        </p:nvSpPr>
        <p:spPr>
          <a:xfrm>
            <a:off x="4251960" y="3749040"/>
            <a:ext cx="3566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C8DE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251960" y="3749040"/>
            <a:ext cx="347472" cy="14173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261104" y="429768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00"/>
                </a:solidFill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2280" y="3840480"/>
            <a:ext cx="91440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812280" y="3840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3840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50" dirty="0"/>
              <a:t>Use a Cost + Speed + Quality Scorecard</a:t>
            </a:r>
          </a:p>
        </p:txBody>
      </p:sp>
      <p:sp>
        <p:nvSpPr>
          <p:cNvPr id="40" name="Text 38"/>
          <p:cNvSpPr/>
          <p:nvPr/>
        </p:nvSpPr>
        <p:spPr>
          <a:xfrm>
            <a:off x="4663440" y="42519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 dirty="0"/>
              <a:t>Use Supplier 3 selectively for cost efficiency and Supplier 1 for speed-critical needs, subject to quality and capacity.</a:t>
            </a:r>
          </a:p>
        </p:txBody>
      </p:sp>
      <p:sp>
        <p:nvSpPr>
          <p:cNvPr id="41" name="Shape 39"/>
          <p:cNvSpPr/>
          <p:nvPr/>
        </p:nvSpPr>
        <p:spPr>
          <a:xfrm>
            <a:off x="8156448" y="3749040"/>
            <a:ext cx="3566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C8DE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8156448" y="3749040"/>
            <a:ext cx="347472" cy="14173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165592" y="4297680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00"/>
                </a:solidFill>
              </a:rPr>
              <a:t>06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10716768" y="3840480"/>
            <a:ext cx="91440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10716768" y="3840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567928" y="38404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50" dirty="0"/>
              <a:t>Create a Regular KPI Review</a:t>
            </a:r>
          </a:p>
        </p:txBody>
      </p:sp>
      <p:sp>
        <p:nvSpPr>
          <p:cNvPr id="47" name="Text 45"/>
          <p:cNvSpPr/>
          <p:nvPr/>
        </p:nvSpPr>
        <p:spPr>
          <a:xfrm>
            <a:off x="8567928" y="41605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 dirty="0"/>
              <a:t>Monitor logistics cost %, lead time, shipping time, stock risk, defect rate and inspection failure 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45720" y="0"/>
            <a:ext cx="12161520" cy="9601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45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Impact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0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management can expect if recommendations are implemented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370332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7E4A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13533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Lower Stock-Out Risk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3429000" cy="27432"/>
          </a:xfrm>
          <a:prstGeom prst="rect">
            <a:avLst/>
          </a:prstGeom>
          <a:solidFill>
            <a:srgbClr val="D0C8DE"/>
          </a:solidFill>
          <a:ln w="1270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sz="1600" dirty="0"/>
              <a:t>Replenishing low-stock and high-demand SKUs reduces lost-sales and service-level risk.</a:t>
            </a:r>
          </a:p>
        </p:txBody>
      </p:sp>
      <p:sp>
        <p:nvSpPr>
          <p:cNvPr id="11" name="Shape 9"/>
          <p:cNvSpPr/>
          <p:nvPr/>
        </p:nvSpPr>
        <p:spPr>
          <a:xfrm>
            <a:off x="4315968" y="1188720"/>
            <a:ext cx="370332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6B3FA0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453128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🚚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01768" y="13533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Better Delivery Reliability</a:t>
            </a:r>
          </a:p>
        </p:txBody>
      </p:sp>
      <p:sp>
        <p:nvSpPr>
          <p:cNvPr id="14" name="Shape 12"/>
          <p:cNvSpPr/>
          <p:nvPr/>
        </p:nvSpPr>
        <p:spPr>
          <a:xfrm>
            <a:off x="4453128" y="1901952"/>
            <a:ext cx="3429000" cy="27432"/>
          </a:xfrm>
          <a:prstGeom prst="rect">
            <a:avLst/>
          </a:prstGeom>
          <a:solidFill>
            <a:srgbClr val="D0C8DE"/>
          </a:solidFill>
          <a:ln w="1270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498848" y="201168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sz="1600" dirty="0"/>
              <a:t>Supplier, manufacturing and mode reviews target upstream and transportation delays.</a:t>
            </a:r>
          </a:p>
        </p:txBody>
      </p:sp>
      <p:sp>
        <p:nvSpPr>
          <p:cNvPr id="16" name="Shape 14"/>
          <p:cNvSpPr/>
          <p:nvPr/>
        </p:nvSpPr>
        <p:spPr>
          <a:xfrm>
            <a:off x="8220456" y="1188720"/>
            <a:ext cx="370332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500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357616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906256" y="13533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Reduced Logistics Costs</a:t>
            </a:r>
          </a:p>
        </p:txBody>
      </p:sp>
      <p:sp>
        <p:nvSpPr>
          <p:cNvPr id="19" name="Shape 17"/>
          <p:cNvSpPr/>
          <p:nvPr/>
        </p:nvSpPr>
        <p:spPr>
          <a:xfrm>
            <a:off x="8357616" y="1901952"/>
            <a:ext cx="3429000" cy="27432"/>
          </a:xfrm>
          <a:prstGeom prst="rect">
            <a:avLst/>
          </a:prstGeom>
          <a:solidFill>
            <a:srgbClr val="D0C8DE"/>
          </a:solidFill>
          <a:ln w="1270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403336" y="201168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sz="1600" dirty="0"/>
              <a:t>Regional root-cause analysis and mode optimization can reduce the 9.16% logistics-cost burden.</a:t>
            </a:r>
          </a:p>
        </p:txBody>
      </p:sp>
      <p:sp>
        <p:nvSpPr>
          <p:cNvPr id="21" name="Shape 19"/>
          <p:cNvSpPr/>
          <p:nvPr/>
        </p:nvSpPr>
        <p:spPr>
          <a:xfrm>
            <a:off x="411480" y="3611880"/>
            <a:ext cx="576072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🏭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97280" y="37764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/>
              <a:t>Smarter Supplier Decisions</a:t>
            </a:r>
          </a:p>
        </p:txBody>
      </p:sp>
      <p:sp>
        <p:nvSpPr>
          <p:cNvPr id="24" name="Shape 22"/>
          <p:cNvSpPr/>
          <p:nvPr/>
        </p:nvSpPr>
        <p:spPr>
          <a:xfrm>
            <a:off x="548640" y="4325112"/>
            <a:ext cx="5486400" cy="27432"/>
          </a:xfrm>
          <a:prstGeom prst="rect">
            <a:avLst/>
          </a:prstGeom>
          <a:solidFill>
            <a:srgbClr val="D0C8DE"/>
          </a:solidFill>
          <a:ln w="1270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94360" y="4434840"/>
            <a:ext cx="5440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sz="1600" dirty="0"/>
              <a:t>Cost + speed + quality scorecards reduce over-reliance on any single supplier metric.</a:t>
            </a:r>
          </a:p>
        </p:txBody>
      </p:sp>
      <p:sp>
        <p:nvSpPr>
          <p:cNvPr id="26" name="Shape 24"/>
          <p:cNvSpPr/>
          <p:nvPr/>
        </p:nvSpPr>
        <p:spPr>
          <a:xfrm>
            <a:off x="6355080" y="3611880"/>
            <a:ext cx="576072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7E4A"/>
            </a:solidFill>
            <a:prstDash val="solid"/>
          </a:ln>
          <a:effectLst>
            <a:outerShdw blurRad="76200" dist="25400" dir="2700000" algn="bl" rotWithShape="0">
              <a:srgbClr val="C0B0D8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922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040880" y="37764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Improved Inventory Control</a:t>
            </a:r>
          </a:p>
        </p:txBody>
      </p:sp>
      <p:sp>
        <p:nvSpPr>
          <p:cNvPr id="29" name="Shape 27"/>
          <p:cNvSpPr/>
          <p:nvPr/>
        </p:nvSpPr>
        <p:spPr>
          <a:xfrm>
            <a:off x="6492240" y="4325112"/>
            <a:ext cx="5486400" cy="27432"/>
          </a:xfrm>
          <a:prstGeom prst="rect">
            <a:avLst/>
          </a:prstGeom>
          <a:solidFill>
            <a:srgbClr val="D0C8DE"/>
          </a:solidFill>
          <a:ln w="1270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537960" y="4434840"/>
            <a:ext cx="5440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sz="1600" dirty="0"/>
              <a:t>Regular KPI monitoring creates earlier warning signals for stock and quality exceptions.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411480" y="45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0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dataset cannot tell us — and why that is important to acknowledge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715000" cy="233172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715000" cy="384048"/>
          </a:xfrm>
          <a:prstGeom prst="rect">
            <a:avLst/>
          </a:prstGeom>
          <a:solidFill>
            <a:srgbClr val="4B1A7C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48640" y="1252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1271016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000" dirty="0">
                <a:solidFill>
                  <a:srgbClr val="FFC000"/>
                </a:solidFill>
              </a:rPr>
              <a:t>No Transaction Date</a:t>
            </a:r>
          </a:p>
        </p:txBody>
      </p:sp>
      <p:sp>
        <p:nvSpPr>
          <p:cNvPr id="10" name="Text 8"/>
          <p:cNvSpPr/>
          <p:nvPr/>
        </p:nvSpPr>
        <p:spPr>
          <a:xfrm>
            <a:off x="640080" y="1709928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sz="1600" dirty="0"/>
              <a:t>No transaction date means monthly, seasonal and time-series trends cannot be produced. The analysis is a point-in-time operational snapshot.</a:t>
            </a:r>
          </a:p>
        </p:txBody>
      </p:sp>
      <p:sp>
        <p:nvSpPr>
          <p:cNvPr id="11" name="Shape 9"/>
          <p:cNvSpPr/>
          <p:nvPr/>
        </p:nvSpPr>
        <p:spPr>
          <a:xfrm>
            <a:off x="6446520" y="1234440"/>
            <a:ext cx="5715000" cy="233172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46520" y="1234440"/>
            <a:ext cx="5715000" cy="384048"/>
          </a:xfrm>
          <a:prstGeom prst="rect">
            <a:avLst/>
          </a:prstGeom>
          <a:solidFill>
            <a:srgbClr val="4B1A7C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37960" y="1252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22008" y="1271016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000" dirty="0">
                <a:solidFill>
                  <a:srgbClr val="FFC000"/>
                </a:solidFill>
              </a:rPr>
              <a:t>No Customer Identifier</a:t>
            </a:r>
          </a:p>
        </p:txBody>
      </p:sp>
      <p:sp>
        <p:nvSpPr>
          <p:cNvPr id="15" name="Text 13"/>
          <p:cNvSpPr/>
          <p:nvPr/>
        </p:nvSpPr>
        <p:spPr>
          <a:xfrm>
            <a:off x="6629400" y="1709928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sz="1600" dirty="0"/>
              <a:t>Customer demographic categories exist, but there is no customer ID suitable for customer-level profitability or lifetime-value analysis.</a:t>
            </a:r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5715000" cy="233172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5715000" cy="384048"/>
          </a:xfrm>
          <a:prstGeom prst="rect">
            <a:avLst/>
          </a:prstGeom>
          <a:solidFill>
            <a:srgbClr val="4B1A7C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dirty="0">
              <a:highlight>
                <a:srgbClr val="800080"/>
              </a:highlight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3785616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000" dirty="0">
                <a:solidFill>
                  <a:srgbClr val="FFC000"/>
                </a:solidFill>
              </a:rPr>
              <a:t>No Profit Field</a:t>
            </a:r>
          </a:p>
        </p:txBody>
      </p:sp>
      <p:sp>
        <p:nvSpPr>
          <p:cNvPr id="20" name="Text 18"/>
          <p:cNvSpPr/>
          <p:nvPr/>
        </p:nvSpPr>
        <p:spPr>
          <a:xfrm>
            <a:off x="640080" y="4224528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sz="1600" dirty="0"/>
              <a:t>Revenue is available, but cost of goods sold and profit are not. Revenue therefore cannot be interpreted as profitability.</a:t>
            </a:r>
          </a:p>
        </p:txBody>
      </p:sp>
      <p:sp>
        <p:nvSpPr>
          <p:cNvPr id="21" name="Shape 19"/>
          <p:cNvSpPr/>
          <p:nvPr/>
        </p:nvSpPr>
        <p:spPr>
          <a:xfrm>
            <a:off x="6446520" y="3749040"/>
            <a:ext cx="5715000" cy="2331720"/>
          </a:xfrm>
          <a:prstGeom prst="rect">
            <a:avLst/>
          </a:prstGeom>
          <a:solidFill>
            <a:srgbClr val="FFFFFF"/>
          </a:solidFill>
          <a:ln w="8890">
            <a:solidFill>
              <a:srgbClr val="D0C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46520" y="3749040"/>
            <a:ext cx="5715000" cy="384048"/>
          </a:xfrm>
          <a:prstGeom prst="rect">
            <a:avLst/>
          </a:prstGeom>
          <a:solidFill>
            <a:srgbClr val="4B1A7C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537960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⏱️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22008" y="3785616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000" dirty="0">
                <a:solidFill>
                  <a:srgbClr val="FFC000"/>
                </a:solidFill>
              </a:rPr>
              <a:t>No Single Fulfillment Time</a:t>
            </a:r>
          </a:p>
        </p:txBody>
      </p:sp>
      <p:sp>
        <p:nvSpPr>
          <p:cNvPr id="25" name="Text 23"/>
          <p:cNvSpPr/>
          <p:nvPr/>
        </p:nvSpPr>
        <p:spPr>
          <a:xfrm>
            <a:off x="6629400" y="4224528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sz="1600" dirty="0"/>
              <a:t>There is no authoritative single fulfillment-time field. Supplier, manufacturing, shipping and order lead-time measures are treated as related operational indicators.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4A500"/>
          </a:solidFill>
          <a:ln w="12700">
            <a:solidFill>
              <a:srgbClr val="D4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4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tells management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881360" cy="2331720"/>
          </a:xfrm>
          <a:prstGeom prst="rect">
            <a:avLst/>
          </a:prstGeom>
          <a:solidFill>
            <a:srgbClr val="3A1060"/>
          </a:solidFill>
          <a:ln w="12700">
            <a:solidFill>
              <a:srgbClr val="5A2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sz="1600" dirty="0">
                <a:solidFill>
                  <a:schemeClr val="bg1"/>
                </a:solidFill>
              </a:rPr>
              <a:t>The analysis identifies five management priorities: inventory replenishment, supplier quality and sourcing, transportation and regional cost optimization, upstream lead-time improvement, and continuous KPI monitoring.</a:t>
            </a:r>
          </a:p>
        </p:txBody>
      </p:sp>
      <p:sp>
        <p:nvSpPr>
          <p:cNvPr id="8" name="Shape 6"/>
          <p:cNvSpPr/>
          <p:nvPr/>
        </p:nvSpPr>
        <p:spPr>
          <a:xfrm>
            <a:off x="731520" y="4251960"/>
            <a:ext cx="1874520" cy="1508760"/>
          </a:xfrm>
          <a:prstGeom prst="rect">
            <a:avLst/>
          </a:prstGeom>
          <a:solidFill>
            <a:srgbClr val="5A2090"/>
          </a:solidFill>
          <a:ln w="12700">
            <a:solidFill>
              <a:srgbClr val="7040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31520" y="43159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400" dirty="0">
                <a:solidFill>
                  <a:srgbClr val="FFFFFF"/>
                </a:solidFill>
              </a:rPr>
              <a:t>Inventory | Replenishment</a:t>
            </a:r>
          </a:p>
        </p:txBody>
      </p:sp>
      <p:sp>
        <p:nvSpPr>
          <p:cNvPr id="11" name="Shape 9"/>
          <p:cNvSpPr/>
          <p:nvPr/>
        </p:nvSpPr>
        <p:spPr>
          <a:xfrm>
            <a:off x="2937510" y="4251960"/>
            <a:ext cx="1874520" cy="1508760"/>
          </a:xfrm>
          <a:prstGeom prst="rect">
            <a:avLst/>
          </a:prstGeom>
          <a:solidFill>
            <a:srgbClr val="5A2090"/>
          </a:solidFill>
          <a:ln w="12700">
            <a:solidFill>
              <a:srgbClr val="7040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937510" y="43159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37510" y="4846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400" dirty="0">
                <a:solidFill>
                  <a:srgbClr val="FFFFFF"/>
                </a:solidFill>
              </a:rPr>
              <a:t>Logistics Cost | Optimization</a:t>
            </a:r>
          </a:p>
        </p:txBody>
      </p:sp>
      <p:sp>
        <p:nvSpPr>
          <p:cNvPr id="14" name="Shape 12"/>
          <p:cNvSpPr/>
          <p:nvPr/>
        </p:nvSpPr>
        <p:spPr>
          <a:xfrm>
            <a:off x="5143500" y="4251960"/>
            <a:ext cx="1874520" cy="1508760"/>
          </a:xfrm>
          <a:prstGeom prst="rect">
            <a:avLst/>
          </a:prstGeom>
          <a:solidFill>
            <a:srgbClr val="5A2090"/>
          </a:solidFill>
          <a:ln w="12700">
            <a:solidFill>
              <a:srgbClr val="7040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143500" y="43159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43500" y="4846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400" dirty="0">
                <a:solidFill>
                  <a:srgbClr val="FFFFFF"/>
                </a:solidFill>
              </a:rPr>
              <a:t>Supplier | Quality &amp; Performance</a:t>
            </a:r>
          </a:p>
        </p:txBody>
      </p:sp>
      <p:sp>
        <p:nvSpPr>
          <p:cNvPr id="17" name="Shape 15"/>
          <p:cNvSpPr/>
          <p:nvPr/>
        </p:nvSpPr>
        <p:spPr>
          <a:xfrm>
            <a:off x="7349490" y="4251960"/>
            <a:ext cx="1874520" cy="1508760"/>
          </a:xfrm>
          <a:prstGeom prst="rect">
            <a:avLst/>
          </a:prstGeom>
          <a:solidFill>
            <a:srgbClr val="5A2090"/>
          </a:solidFill>
          <a:ln w="12700">
            <a:solidFill>
              <a:srgbClr val="7040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49490" y="43159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49490" y="4846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400" dirty="0">
                <a:solidFill>
                  <a:srgbClr val="FFFFFF"/>
                </a:solidFill>
              </a:rPr>
              <a:t>Upstream | Regional Efficiency</a:t>
            </a:r>
          </a:p>
        </p:txBody>
      </p:sp>
      <p:sp>
        <p:nvSpPr>
          <p:cNvPr id="20" name="Shape 15"/>
          <p:cNvSpPr/>
          <p:nvPr/>
        </p:nvSpPr>
        <p:spPr>
          <a:xfrm>
            <a:off x="9555480" y="4251960"/>
            <a:ext cx="1874520" cy="1508760"/>
          </a:xfrm>
          <a:prstGeom prst="rect">
            <a:avLst/>
          </a:prstGeom>
          <a:solidFill>
            <a:srgbClr val="5A2090"/>
          </a:solidFill>
          <a:ln w="12700">
            <a:solidFill>
              <a:srgbClr val="7040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6"/>
          <p:cNvSpPr/>
          <p:nvPr/>
        </p:nvSpPr>
        <p:spPr>
          <a:xfrm>
            <a:off x="9555480" y="43159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📊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9555480" y="4846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Continuous KPI | Monitoring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4B1A7C"/>
          </a:solidFill>
          <a:ln w="12700">
            <a:solidFill>
              <a:srgbClr val="4B1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4A500"/>
          </a:solidFill>
          <a:ln w="12700">
            <a:solidFill>
              <a:srgbClr val="D4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5303520"/>
            <a:ext cx="12161520" cy="1554480"/>
          </a:xfrm>
          <a:prstGeom prst="rect">
            <a:avLst/>
          </a:prstGeom>
          <a:solidFill>
            <a:srgbClr val="3A1060"/>
          </a:solidFill>
          <a:ln w="12700">
            <a:solidFill>
              <a:srgbClr val="3A10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D4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0" y="2834640"/>
            <a:ext cx="5760720" cy="45720"/>
          </a:xfrm>
          <a:prstGeom prst="rect">
            <a:avLst/>
          </a:prstGeom>
          <a:solidFill>
            <a:srgbClr val="D4A500"/>
          </a:solidFill>
          <a:ln w="12700">
            <a:solidFill>
              <a:srgbClr val="D4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Chidi Onochie Ronald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547872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0B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Supply Chain Analytics  |  MySQL  ·  Power BI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913632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97280" y="5394960"/>
            <a:ext cx="2194560" cy="1280160"/>
          </a:xfrm>
          <a:prstGeom prst="rect">
            <a:avLst/>
          </a:prstGeom>
          <a:solidFill>
            <a:srgbClr val="4B1A7C"/>
          </a:solidFill>
          <a:ln w="12700">
            <a:solidFill>
              <a:srgbClr val="7040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97280" y="54681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11880" y="5394960"/>
            <a:ext cx="2194560" cy="1280160"/>
          </a:xfrm>
          <a:prstGeom prst="rect">
            <a:avLst/>
          </a:prstGeom>
          <a:solidFill>
            <a:srgbClr val="4B1A7C"/>
          </a:solidFill>
          <a:ln w="12700">
            <a:solidFill>
              <a:srgbClr val="7040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611880" y="54681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b="1" dirty="0">
                <a:solidFill>
                  <a:srgbClr val="FFC000"/>
                </a:solidFill>
              </a:rPr>
              <a:t>577.6K</a:t>
            </a:r>
          </a:p>
        </p:txBody>
      </p:sp>
      <p:sp>
        <p:nvSpPr>
          <p:cNvPr id="16" name="Text 14"/>
          <p:cNvSpPr/>
          <p:nvPr/>
        </p:nvSpPr>
        <p:spPr>
          <a:xfrm>
            <a:off x="361188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5394960"/>
            <a:ext cx="2194560" cy="1280160"/>
          </a:xfrm>
          <a:prstGeom prst="rect">
            <a:avLst/>
          </a:prstGeom>
          <a:solidFill>
            <a:srgbClr val="4B1A7C"/>
          </a:solidFill>
          <a:ln w="12700">
            <a:solidFill>
              <a:srgbClr val="7040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126480" y="54681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2648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41080" y="5394960"/>
            <a:ext cx="2194560" cy="1280160"/>
          </a:xfrm>
          <a:prstGeom prst="rect">
            <a:avLst/>
          </a:prstGeom>
          <a:solidFill>
            <a:srgbClr val="4B1A7C"/>
          </a:solidFill>
          <a:ln w="12700">
            <a:solidFill>
              <a:srgbClr val="7040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41080" y="54681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b="1" dirty="0">
                <a:solidFill>
                  <a:srgbClr val="FFC000"/>
                </a:solidFill>
              </a:rPr>
              <a:t>9.16%</a:t>
            </a:r>
          </a:p>
        </p:txBody>
      </p:sp>
      <p:sp>
        <p:nvSpPr>
          <p:cNvPr id="22" name="Text 20"/>
          <p:cNvSpPr/>
          <p:nvPr/>
        </p:nvSpPr>
        <p:spPr>
          <a:xfrm>
            <a:off x="864108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Cost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2051</Words>
  <Application>Microsoft Office PowerPoint</Application>
  <PresentationFormat>Widescreen</PresentationFormat>
  <Paragraphs>298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Logistics &amp; Supply Chain Analytics</dc:title>
  <dc:subject>PptxGenJS Presentation</dc:subject>
  <dc:creator>Chidi Onochie Ronald</dc:creator>
  <cp:lastModifiedBy>CHIDI</cp:lastModifiedBy>
  <cp:revision>8</cp:revision>
  <dcterms:created xsi:type="dcterms:W3CDTF">2026-08-15T11:14:15Z</dcterms:created>
  <dcterms:modified xsi:type="dcterms:W3CDTF">2026-08-28T18:00:38Z</dcterms:modified>
</cp:coreProperties>
</file>